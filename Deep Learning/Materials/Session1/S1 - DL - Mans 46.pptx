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babb86f2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babb86f2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babb86f2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babb86f2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bbabb86f2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bbabb86f2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babb86f2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babb86f2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bbabb86f2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bbabb86f2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595959"/>
              </a:buClr>
              <a:buSzPts val="1800"/>
              <a:buChar char="●"/>
            </a:pPr>
            <a:r>
              <a:rPr lang="en" sz="1800">
                <a:solidFill>
                  <a:srgbClr val="595959"/>
                </a:solidFill>
              </a:rPr>
              <a:t>There is now a huge quantity of data available to train neural networks, and ANNs frequently outperform other ML techniques on very large and complex problems.</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The tremendous increase in computing power since the 1990s now makes it possible to train large neural networks in a reasonable amount of time. This is in part due to Moore’s law (the number of components in integrated circuits has doubled about every 2 years over the last 50 years), but also thanks to the gaming industry, which has stimulated the production of powerful GPU cards by the millions. Moreover, cloud platforms have made this power accessible to everyone. </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The training algorithms have been improved. To be fair they are only slightly different from the ones used in the 1990s, but these relatively small tweaks have had a huge positive impact. </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Some theoretical limitations of ANNs have turned out to be benign in practice. For example, many people thought that ANN training algorithms were doomed because they were likely to get stuck in local optima, but it turns out that this is not a big problem in practice, especially for larger neural networks: the local optima often perform almost as well as the global optimum. </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ANNs seem to have entered a virtuous circle of funding and progress. Amazing products based on ANNs regularly make the headline news, which pulls more and more attention and funding toward them, resulting in more and more progress and even more amazing products.</a:t>
            </a:r>
            <a:endParaRPr sz="1800">
              <a:solidFill>
                <a:srgbClr val="595959"/>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bbabb86f2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bbabb86f2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bbabb86f2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bbabb86f2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bbabb86f23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bbabb86f23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bbabb86f23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bbabb86f23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bbabb86f23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bbabb86f2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bbabb86f23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bbabb86f23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bbabb86f23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bbabb86f23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babb86f23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bbabb86f23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bbabb86f23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bbabb86f2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Deep learning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Modeling</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Data</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Objective function</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Model</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Optimization algorithm</a:t>
            </a:r>
            <a:endParaRPr/>
          </a:p>
        </p:txBody>
      </p:sp>
      <p:pic>
        <p:nvPicPr>
          <p:cNvPr id="62" name="Google Shape;62;p14"/>
          <p:cNvPicPr preferRelativeResize="0"/>
          <p:nvPr/>
        </p:nvPicPr>
        <p:blipFill>
          <a:blip r:embed="rId3">
            <a:alphaModFix/>
          </a:blip>
          <a:stretch>
            <a:fillRect/>
          </a:stretch>
        </p:blipFill>
        <p:spPr>
          <a:xfrm>
            <a:off x="3506496" y="1329800"/>
            <a:ext cx="4222653" cy="3239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Modeling</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Data</a:t>
            </a:r>
            <a:endParaRPr/>
          </a:p>
          <a:p>
            <a:pPr indent="-317500" lvl="1" marL="914400" rtl="0" algn="l">
              <a:spcBef>
                <a:spcPts val="0"/>
              </a:spcBef>
              <a:spcAft>
                <a:spcPts val="0"/>
              </a:spcAft>
              <a:buSzPts val="1400"/>
              <a:buChar char="○"/>
            </a:pPr>
            <a:r>
              <a:rPr lang="en"/>
              <a:t>(x, y)</a:t>
            </a:r>
            <a:endParaRPr/>
          </a:p>
          <a:p>
            <a:pPr indent="-342900" lvl="0" marL="457200" rtl="0" algn="l">
              <a:spcBef>
                <a:spcPts val="0"/>
              </a:spcBef>
              <a:spcAft>
                <a:spcPts val="0"/>
              </a:spcAft>
              <a:buSzPts val="1800"/>
              <a:buChar char="●"/>
            </a:pPr>
            <a:r>
              <a:rPr lang="en"/>
              <a:t>Objective function</a:t>
            </a:r>
            <a:endParaRPr/>
          </a:p>
          <a:p>
            <a:pPr indent="-317500" lvl="1" marL="914400" rtl="0" algn="l">
              <a:spcBef>
                <a:spcPts val="0"/>
              </a:spcBef>
              <a:spcAft>
                <a:spcPts val="0"/>
              </a:spcAft>
              <a:buSzPts val="1400"/>
              <a:buChar char="○"/>
            </a:pPr>
            <a:r>
              <a:rPr lang="en"/>
              <a:t>MSE</a:t>
            </a:r>
            <a:endParaRPr/>
          </a:p>
          <a:p>
            <a:pPr indent="-342900" lvl="0" marL="457200" rtl="0" algn="l">
              <a:spcBef>
                <a:spcPts val="0"/>
              </a:spcBef>
              <a:spcAft>
                <a:spcPts val="0"/>
              </a:spcAft>
              <a:buSzPts val="1800"/>
              <a:buChar char="●"/>
            </a:pPr>
            <a:r>
              <a:rPr lang="en"/>
              <a:t>Model?</a:t>
            </a:r>
            <a:endParaRPr/>
          </a:p>
          <a:p>
            <a:pPr indent="-317500" lvl="1" marL="914400" rtl="0" algn="l">
              <a:spcBef>
                <a:spcPts val="0"/>
              </a:spcBef>
              <a:spcAft>
                <a:spcPts val="0"/>
              </a:spcAft>
              <a:buSzPts val="1400"/>
              <a:buChar char="○"/>
            </a:pPr>
            <a:r>
              <a:rPr lang="en"/>
              <a:t>y = a + b * x?</a:t>
            </a:r>
            <a:endParaRPr/>
          </a:p>
          <a:p>
            <a:pPr indent="-317500" lvl="1" marL="914400" rtl="0" algn="l">
              <a:spcBef>
                <a:spcPts val="0"/>
              </a:spcBef>
              <a:spcAft>
                <a:spcPts val="0"/>
              </a:spcAft>
              <a:buSzPts val="1400"/>
              <a:buChar char="○"/>
            </a:pPr>
            <a:r>
              <a:rPr lang="en"/>
              <a:t>y = a + b * x + c * x **2?</a:t>
            </a:r>
            <a:endParaRPr/>
          </a:p>
          <a:p>
            <a:pPr indent="-342900" lvl="0" marL="457200" rtl="0" algn="l">
              <a:spcBef>
                <a:spcPts val="0"/>
              </a:spcBef>
              <a:spcAft>
                <a:spcPts val="0"/>
              </a:spcAft>
              <a:buSzPts val="1800"/>
              <a:buChar char="●"/>
            </a:pPr>
            <a:r>
              <a:rPr lang="en"/>
              <a:t>Optimization algorithm</a:t>
            </a:r>
            <a:endParaRPr/>
          </a:p>
          <a:p>
            <a:pPr indent="-317500" lvl="1" marL="914400" rtl="0" algn="l">
              <a:spcBef>
                <a:spcPts val="0"/>
              </a:spcBef>
              <a:spcAft>
                <a:spcPts val="0"/>
              </a:spcAft>
              <a:buSzPts val="1400"/>
              <a:buChar char="○"/>
            </a:pPr>
            <a:r>
              <a:rPr lang="en"/>
              <a:t>SGD</a:t>
            </a:r>
            <a:endParaRPr/>
          </a:p>
        </p:txBody>
      </p:sp>
      <p:pic>
        <p:nvPicPr>
          <p:cNvPr id="69" name="Google Shape;69;p15"/>
          <p:cNvPicPr preferRelativeResize="0"/>
          <p:nvPr/>
        </p:nvPicPr>
        <p:blipFill>
          <a:blip r:embed="rId3">
            <a:alphaModFix/>
          </a:blip>
          <a:stretch>
            <a:fillRect/>
          </a:stretch>
        </p:blipFill>
        <p:spPr>
          <a:xfrm>
            <a:off x="3582696" y="1329800"/>
            <a:ext cx="4222653" cy="32390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Automatic diff</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DL vs ML</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Larger neural network</a:t>
            </a:r>
            <a:endParaRPr/>
          </a:p>
          <a:p>
            <a:pPr indent="-342900" lvl="0" marL="457200" rtl="0" algn="l">
              <a:spcBef>
                <a:spcPts val="0"/>
              </a:spcBef>
              <a:spcAft>
                <a:spcPts val="0"/>
              </a:spcAft>
              <a:buSzPts val="1800"/>
              <a:buChar char="●"/>
            </a:pPr>
            <a:r>
              <a:rPr lang="en"/>
              <a:t>Requires</a:t>
            </a:r>
            <a:endParaRPr/>
          </a:p>
          <a:p>
            <a:pPr indent="-317500" lvl="1" marL="914400" rtl="0" algn="l">
              <a:spcBef>
                <a:spcPts val="0"/>
              </a:spcBef>
              <a:spcAft>
                <a:spcPts val="0"/>
              </a:spcAft>
              <a:buSzPts val="1400"/>
              <a:buChar char="○"/>
            </a:pPr>
            <a:r>
              <a:rPr lang="en"/>
              <a:t>Data</a:t>
            </a:r>
            <a:endParaRPr/>
          </a:p>
          <a:p>
            <a:pPr indent="-317500" lvl="1" marL="914400" rtl="0" algn="l">
              <a:spcBef>
                <a:spcPts val="0"/>
              </a:spcBef>
              <a:spcAft>
                <a:spcPts val="0"/>
              </a:spcAft>
              <a:buSzPts val="1400"/>
              <a:buChar char="○"/>
            </a:pPr>
            <a:r>
              <a:rPr lang="en"/>
              <a:t>Computational power</a:t>
            </a:r>
            <a:endParaRPr/>
          </a:p>
          <a:p>
            <a:pPr indent="-317500" lvl="1" marL="914400" rtl="0" algn="l">
              <a:spcBef>
                <a:spcPts val="0"/>
              </a:spcBef>
              <a:spcAft>
                <a:spcPts val="0"/>
              </a:spcAft>
              <a:buSzPts val="1400"/>
              <a:buChar char="○"/>
            </a:pPr>
            <a:r>
              <a:rPr lang="en"/>
              <a:t>Training algorithms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Applications</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06400" lvl="0" marL="457200" rtl="0" algn="l">
              <a:spcBef>
                <a:spcPts val="0"/>
              </a:spcBef>
              <a:spcAft>
                <a:spcPts val="0"/>
              </a:spcAft>
              <a:buClr>
                <a:schemeClr val="dk1"/>
              </a:buClr>
              <a:buSzPts val="2800"/>
              <a:buChar char="●"/>
            </a:pPr>
            <a:r>
              <a:rPr lang="en" sz="2800">
                <a:solidFill>
                  <a:schemeClr val="dk1"/>
                </a:solidFill>
              </a:rPr>
              <a:t>Image Segmentation</a:t>
            </a:r>
            <a:endParaRPr sz="2800">
              <a:solidFill>
                <a:schemeClr val="dk1"/>
              </a:solidFill>
            </a:endParaRPr>
          </a:p>
          <a:p>
            <a:pPr indent="-406400" lvl="0" marL="457200" rtl="0" algn="l">
              <a:spcBef>
                <a:spcPts val="0"/>
              </a:spcBef>
              <a:spcAft>
                <a:spcPts val="0"/>
              </a:spcAft>
              <a:buClr>
                <a:schemeClr val="dk1"/>
              </a:buClr>
              <a:buSzPts val="2800"/>
              <a:buChar char="●"/>
            </a:pPr>
            <a:r>
              <a:rPr lang="en" sz="2800">
                <a:solidFill>
                  <a:schemeClr val="dk1"/>
                </a:solidFill>
              </a:rPr>
              <a:t>Classification</a:t>
            </a:r>
            <a:endParaRPr sz="2800">
              <a:solidFill>
                <a:schemeClr val="dk1"/>
              </a:solidFill>
            </a:endParaRPr>
          </a:p>
          <a:p>
            <a:pPr indent="-406400" lvl="0" marL="457200" rtl="0" algn="l">
              <a:spcBef>
                <a:spcPts val="0"/>
              </a:spcBef>
              <a:spcAft>
                <a:spcPts val="0"/>
              </a:spcAft>
              <a:buClr>
                <a:schemeClr val="dk1"/>
              </a:buClr>
              <a:buSzPts val="2800"/>
              <a:buChar char="●"/>
            </a:pPr>
            <a:r>
              <a:rPr lang="en" sz="2800">
                <a:solidFill>
                  <a:schemeClr val="dk1"/>
                </a:solidFill>
              </a:rPr>
              <a:t>Translation</a:t>
            </a:r>
            <a:endParaRPr sz="2800">
              <a:solidFill>
                <a:schemeClr val="dk1"/>
              </a:solidFill>
            </a:endParaRPr>
          </a:p>
          <a:p>
            <a:pPr indent="-406400" lvl="0" marL="457200" rtl="0" algn="l">
              <a:spcBef>
                <a:spcPts val="0"/>
              </a:spcBef>
              <a:spcAft>
                <a:spcPts val="0"/>
              </a:spcAft>
              <a:buClr>
                <a:schemeClr val="dk1"/>
              </a:buClr>
              <a:buSzPts val="2800"/>
              <a:buChar char="●"/>
            </a:pPr>
            <a:r>
              <a:rPr lang="en" sz="2800">
                <a:solidFill>
                  <a:schemeClr val="dk1"/>
                </a:solidFill>
              </a:rPr>
              <a:t>AlphaGo</a:t>
            </a:r>
            <a:endParaRPr sz="2800">
              <a:solidFill>
                <a:schemeClr val="dk1"/>
              </a:solidFill>
            </a:endParaRPr>
          </a:p>
          <a:p>
            <a:pPr indent="-406400" lvl="0" marL="457200" rtl="0" algn="l">
              <a:spcBef>
                <a:spcPts val="0"/>
              </a:spcBef>
              <a:spcAft>
                <a:spcPts val="0"/>
              </a:spcAft>
              <a:buClr>
                <a:schemeClr val="dk1"/>
              </a:buClr>
              <a:buSzPts val="2800"/>
              <a:buChar char="●"/>
            </a:pPr>
            <a:r>
              <a:rPr lang="en" sz="2800">
                <a:solidFill>
                  <a:schemeClr val="dk1"/>
                </a:solidFill>
              </a:rPr>
              <a:t>Recommendation systems</a:t>
            </a:r>
            <a:endParaRPr sz="2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 ML</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Linear regression</a:t>
            </a:r>
            <a:endParaRPr/>
          </a:p>
          <a:p>
            <a:pPr indent="-317500" lvl="1" marL="914400" rtl="0" algn="l">
              <a:spcBef>
                <a:spcPts val="0"/>
              </a:spcBef>
              <a:spcAft>
                <a:spcPts val="0"/>
              </a:spcAft>
              <a:buSzPts val="1400"/>
              <a:buChar char="○"/>
            </a:pPr>
            <a:r>
              <a:rPr lang="en"/>
              <a:t>y = b + w1 * x1 + w2 * x2 + …</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Perceptron (neuron)</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0" name="Google Shape;100;p20"/>
          <p:cNvPicPr preferRelativeResize="0"/>
          <p:nvPr/>
        </p:nvPicPr>
        <p:blipFill>
          <a:blip r:embed="rId3">
            <a:alphaModFix/>
          </a:blip>
          <a:stretch>
            <a:fillRect/>
          </a:stretch>
        </p:blipFill>
        <p:spPr>
          <a:xfrm>
            <a:off x="2081625" y="1262275"/>
            <a:ext cx="5074650" cy="3256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Perceptron - multiple output neurons</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7" name="Google Shape;107;p21"/>
          <p:cNvPicPr preferRelativeResize="0"/>
          <p:nvPr/>
        </p:nvPicPr>
        <p:blipFill rotWithShape="1">
          <a:blip r:embed="rId3">
            <a:alphaModFix/>
          </a:blip>
          <a:srcRect b="0" l="0" r="0" t="2837"/>
          <a:stretch/>
        </p:blipFill>
        <p:spPr>
          <a:xfrm>
            <a:off x="1841875" y="1152475"/>
            <a:ext cx="4730775" cy="3539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MLP</a:t>
            </a:r>
            <a:endParaRPr/>
          </a:p>
        </p:txBody>
      </p:sp>
      <p:sp>
        <p:nvSpPr>
          <p:cNvPr id="113" name="Google Shape;11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4" name="Google Shape;114;p22"/>
          <p:cNvPicPr preferRelativeResize="0"/>
          <p:nvPr/>
        </p:nvPicPr>
        <p:blipFill>
          <a:blip r:embed="rId3">
            <a:alphaModFix/>
          </a:blip>
          <a:stretch>
            <a:fillRect/>
          </a:stretch>
        </p:blipFill>
        <p:spPr>
          <a:xfrm>
            <a:off x="3101277" y="1262325"/>
            <a:ext cx="3845425" cy="3351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Activation functions </a:t>
            </a:r>
            <a:endParaRPr/>
          </a:p>
        </p:txBody>
      </p:sp>
      <p:sp>
        <p:nvSpPr>
          <p:cNvPr id="120" name="Google Shape;120;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Hidden layers</a:t>
            </a:r>
            <a:endParaRPr/>
          </a:p>
          <a:p>
            <a:pPr indent="-342900" lvl="0" marL="457200" rtl="0" algn="l">
              <a:spcBef>
                <a:spcPts val="0"/>
              </a:spcBef>
              <a:spcAft>
                <a:spcPts val="0"/>
              </a:spcAft>
              <a:buSzPts val="1800"/>
              <a:buChar char="●"/>
            </a:pPr>
            <a:r>
              <a:rPr lang="en"/>
              <a:t>Output layers</a:t>
            </a:r>
            <a:endParaRPr/>
          </a:p>
        </p:txBody>
      </p:sp>
      <p:pic>
        <p:nvPicPr>
          <p:cNvPr id="121" name="Google Shape;121;p23"/>
          <p:cNvPicPr preferRelativeResize="0"/>
          <p:nvPr/>
        </p:nvPicPr>
        <p:blipFill>
          <a:blip r:embed="rId3">
            <a:alphaModFix/>
          </a:blip>
          <a:stretch>
            <a:fillRect/>
          </a:stretch>
        </p:blipFill>
        <p:spPr>
          <a:xfrm>
            <a:off x="2242200" y="2571750"/>
            <a:ext cx="5784977" cy="2240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Optimization</a:t>
            </a:r>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Chain rule</a:t>
            </a:r>
            <a:endParaRPr/>
          </a:p>
          <a:p>
            <a:pPr indent="-342900" lvl="0" marL="457200" rtl="0" algn="l">
              <a:spcBef>
                <a:spcPts val="0"/>
              </a:spcBef>
              <a:spcAft>
                <a:spcPts val="0"/>
              </a:spcAft>
              <a:buSzPts val="1800"/>
              <a:buChar char="●"/>
            </a:pPr>
            <a:r>
              <a:rPr lang="en"/>
              <a:t>Steps</a:t>
            </a:r>
            <a:endParaRPr/>
          </a:p>
          <a:p>
            <a:pPr indent="-317500" lvl="1" marL="914400" rtl="0" algn="l">
              <a:spcBef>
                <a:spcPts val="0"/>
              </a:spcBef>
              <a:spcAft>
                <a:spcPts val="0"/>
              </a:spcAft>
              <a:buSzPts val="1400"/>
              <a:buChar char="○"/>
            </a:pPr>
            <a:r>
              <a:rPr lang="en"/>
              <a:t>Forward substitution</a:t>
            </a:r>
            <a:endParaRPr/>
          </a:p>
          <a:p>
            <a:pPr indent="-317500" lvl="1" marL="914400" rtl="0" algn="l">
              <a:spcBef>
                <a:spcPts val="0"/>
              </a:spcBef>
              <a:spcAft>
                <a:spcPts val="0"/>
              </a:spcAft>
              <a:buSzPts val="1400"/>
              <a:buChar char="○"/>
            </a:pPr>
            <a:r>
              <a:rPr lang="en"/>
              <a:t>Calculate loss</a:t>
            </a:r>
            <a:endParaRPr/>
          </a:p>
          <a:p>
            <a:pPr indent="-317500" lvl="1" marL="914400" rtl="0" algn="l">
              <a:spcBef>
                <a:spcPts val="0"/>
              </a:spcBef>
              <a:spcAft>
                <a:spcPts val="0"/>
              </a:spcAft>
              <a:buSzPts val="1400"/>
              <a:buChar char="○"/>
            </a:pPr>
            <a:r>
              <a:rPr lang="en"/>
              <a:t>Backprop</a:t>
            </a:r>
            <a:endParaRPr/>
          </a:p>
          <a:p>
            <a:pPr indent="-317500" lvl="1" marL="914400" rtl="0" algn="l">
              <a:spcBef>
                <a:spcPts val="0"/>
              </a:spcBef>
              <a:spcAft>
                <a:spcPts val="0"/>
              </a:spcAft>
              <a:buSzPts val="1400"/>
              <a:buChar char="○"/>
            </a:pPr>
            <a:r>
              <a:rPr lang="en"/>
              <a:t>Parameters update</a:t>
            </a:r>
            <a:endParaRPr/>
          </a:p>
        </p:txBody>
      </p:sp>
      <p:pic>
        <p:nvPicPr>
          <p:cNvPr id="128" name="Google Shape;128;p24"/>
          <p:cNvPicPr preferRelativeResize="0"/>
          <p:nvPr/>
        </p:nvPicPr>
        <p:blipFill>
          <a:blip r:embed="rId3">
            <a:alphaModFix/>
          </a:blip>
          <a:stretch>
            <a:fillRect/>
          </a:stretch>
        </p:blipFill>
        <p:spPr>
          <a:xfrm>
            <a:off x="4443496" y="965275"/>
            <a:ext cx="4363006" cy="2138568"/>
          </a:xfrm>
          <a:prstGeom prst="rect">
            <a:avLst/>
          </a:prstGeom>
          <a:noFill/>
          <a:ln>
            <a:noFill/>
          </a:ln>
        </p:spPr>
      </p:pic>
      <p:sp>
        <p:nvSpPr>
          <p:cNvPr id="129" name="Google Shape;129;p24"/>
          <p:cNvSpPr txBox="1"/>
          <p:nvPr/>
        </p:nvSpPr>
        <p:spPr>
          <a:xfrm>
            <a:off x="4323725" y="3369543"/>
            <a:ext cx="587400" cy="3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Input</a:t>
            </a:r>
            <a:endParaRPr sz="1200">
              <a:solidFill>
                <a:schemeClr val="dk2"/>
              </a:solidFill>
            </a:endParaRPr>
          </a:p>
        </p:txBody>
      </p:sp>
      <p:sp>
        <p:nvSpPr>
          <p:cNvPr id="130" name="Google Shape;130;p24"/>
          <p:cNvSpPr txBox="1"/>
          <p:nvPr/>
        </p:nvSpPr>
        <p:spPr>
          <a:xfrm>
            <a:off x="6245708" y="3369543"/>
            <a:ext cx="781500" cy="3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Hidden</a:t>
            </a:r>
            <a:endParaRPr sz="1200">
              <a:solidFill>
                <a:schemeClr val="dk2"/>
              </a:solidFill>
            </a:endParaRPr>
          </a:p>
        </p:txBody>
      </p:sp>
      <p:sp>
        <p:nvSpPr>
          <p:cNvPr id="131" name="Google Shape;131;p24"/>
          <p:cNvSpPr txBox="1"/>
          <p:nvPr/>
        </p:nvSpPr>
        <p:spPr>
          <a:xfrm>
            <a:off x="8104955" y="3369543"/>
            <a:ext cx="912600" cy="3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Output</a:t>
            </a:r>
            <a:endParaRPr sz="12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Hyperparameters</a:t>
            </a:r>
            <a:endParaRPr/>
          </a:p>
        </p:txBody>
      </p:sp>
      <p:sp>
        <p:nvSpPr>
          <p:cNvPr id="137" name="Google Shape;13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Number of layers</a:t>
            </a:r>
            <a:endParaRPr/>
          </a:p>
          <a:p>
            <a:pPr indent="-342900" lvl="0" marL="457200" rtl="0" algn="l">
              <a:spcBef>
                <a:spcPts val="0"/>
              </a:spcBef>
              <a:spcAft>
                <a:spcPts val="0"/>
              </a:spcAft>
              <a:buSzPts val="1800"/>
              <a:buChar char="●"/>
            </a:pPr>
            <a:r>
              <a:rPr lang="en"/>
              <a:t>Number of neurons</a:t>
            </a:r>
            <a:endParaRPr/>
          </a:p>
          <a:p>
            <a:pPr indent="-342900" lvl="0" marL="457200" rtl="0" algn="l">
              <a:spcBef>
                <a:spcPts val="0"/>
              </a:spcBef>
              <a:spcAft>
                <a:spcPts val="0"/>
              </a:spcAft>
              <a:buSzPts val="1800"/>
              <a:buChar char="●"/>
            </a:pPr>
            <a:r>
              <a:rPr lang="en"/>
              <a:t>Learning rate</a:t>
            </a:r>
            <a:endParaRPr/>
          </a:p>
          <a:p>
            <a:pPr indent="-342900" lvl="0" marL="457200" rtl="0" algn="l">
              <a:spcBef>
                <a:spcPts val="0"/>
              </a:spcBef>
              <a:spcAft>
                <a:spcPts val="0"/>
              </a:spcAft>
              <a:buSzPts val="1800"/>
              <a:buChar char="●"/>
            </a:pPr>
            <a:r>
              <a:rPr lang="en"/>
              <a:t>Batch size</a:t>
            </a:r>
            <a:endParaRPr/>
          </a:p>
          <a:p>
            <a:pPr indent="-342900" lvl="0" marL="457200" rtl="0" algn="l">
              <a:spcBef>
                <a:spcPts val="0"/>
              </a:spcBef>
              <a:spcAft>
                <a:spcPts val="0"/>
              </a:spcAft>
              <a:buSzPts val="1800"/>
              <a:buChar char="●"/>
            </a:pPr>
            <a:r>
              <a:rPr lang="en"/>
              <a:t>Optimizer</a:t>
            </a:r>
            <a:endParaRPr/>
          </a:p>
          <a:p>
            <a:pPr indent="-342900" lvl="0" marL="457200" rtl="0" algn="l">
              <a:spcBef>
                <a:spcPts val="0"/>
              </a:spcBef>
              <a:spcAft>
                <a:spcPts val="0"/>
              </a:spcAft>
              <a:buSzPts val="1800"/>
              <a:buChar char="●"/>
            </a:pPr>
            <a:r>
              <a:rPr lang="en"/>
              <a:t>Number of iterations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Vanishing/exploding gradients</a:t>
            </a:r>
            <a:endParaRPr/>
          </a:p>
        </p:txBody>
      </p:sp>
      <p:sp>
        <p:nvSpPr>
          <p:cNvPr id="143" name="Google Shape;14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Initialization</a:t>
            </a:r>
            <a:endParaRPr/>
          </a:p>
          <a:p>
            <a:pPr indent="-342900" lvl="0" marL="457200" rtl="0" algn="l">
              <a:spcBef>
                <a:spcPts val="0"/>
              </a:spcBef>
              <a:spcAft>
                <a:spcPts val="0"/>
              </a:spcAft>
              <a:buSzPts val="1800"/>
              <a:buChar char="●"/>
            </a:pPr>
            <a:r>
              <a:rPr lang="en"/>
              <a:t>Activation functions</a:t>
            </a:r>
            <a:endParaRPr/>
          </a:p>
          <a:p>
            <a:pPr indent="-342900" lvl="0" marL="457200" rtl="0" algn="l">
              <a:spcBef>
                <a:spcPts val="0"/>
              </a:spcBef>
              <a:spcAft>
                <a:spcPts val="0"/>
              </a:spcAft>
              <a:buSzPts val="1800"/>
              <a:buChar char="●"/>
            </a:pPr>
            <a:r>
              <a:rPr lang="en"/>
              <a:t>Batch normalization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